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9"/>
  </p:notesMasterIdLst>
  <p:sldIdLst>
    <p:sldId id="256" r:id="rId2"/>
    <p:sldId id="357" r:id="rId3"/>
    <p:sldId id="358" r:id="rId4"/>
    <p:sldId id="488" r:id="rId5"/>
    <p:sldId id="489" r:id="rId6"/>
    <p:sldId id="490" r:id="rId7"/>
    <p:sldId id="491" r:id="rId8"/>
  </p:sldIdLst>
  <p:sldSz cx="9144000" cy="5143500" type="screen16x9"/>
  <p:notesSz cx="6858000" cy="9144000"/>
  <p:embeddedFontLst>
    <p:embeddedFont>
      <p:font typeface="Advent Pro Light" panose="020B0604020202020204" charset="0"/>
      <p:regular r:id="rId10"/>
      <p:bold r:id="rId11"/>
    </p:embeddedFont>
    <p:embeddedFont>
      <p:font typeface="Anton" pitchFamily="2" charset="0"/>
      <p:regular r:id="rId12"/>
    </p:embeddedFont>
    <p:embeddedFont>
      <p:font typeface="Fira Sans Condensed Light" panose="020B0403050000020004" pitchFamily="34" charset="0"/>
      <p:regular r:id="rId13"/>
      <p:bold r:id="rId14"/>
      <p:italic r:id="rId15"/>
      <p:boldItalic r:id="rId16"/>
    </p:embeddedFont>
    <p:embeddedFont>
      <p:font typeface="Rajdhani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397FE-706D-4E7D-AA01-638484C1D090}">
  <a:tblStyle styleId="{95E397FE-706D-4E7D-AA01-638484C1D0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0909" autoAdjust="0"/>
  </p:normalViewPr>
  <p:slideViewPr>
    <p:cSldViewPr snapToGrid="0">
      <p:cViewPr varScale="1">
        <p:scale>
          <a:sx n="82" d="100"/>
          <a:sy n="82" d="100"/>
        </p:scale>
        <p:origin x="1038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753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007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708a6ee8a1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708a6ee8a1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29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7697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E5E65D04-0A97-CD74-2397-5CCF592DC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17EF6B54-745F-F8D5-7AF5-69C6317581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6DDAEFF1-4054-FD99-4FFF-87959ABA5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6687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76974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>
          <a:extLst>
            <a:ext uri="{FF2B5EF4-FFF2-40B4-BE49-F238E27FC236}">
              <a16:creationId xmlns:a16="http://schemas.microsoft.com/office/drawing/2014/main" id="{E5E65D04-0A97-CD74-2397-5CCF592DC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65abef0139_0_892:notes">
            <a:extLst>
              <a:ext uri="{FF2B5EF4-FFF2-40B4-BE49-F238E27FC236}">
                <a16:creationId xmlns:a16="http://schemas.microsoft.com/office/drawing/2014/main" id="{17EF6B54-745F-F8D5-7AF5-69C6317581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65abef0139_0_892:notes">
            <a:extLst>
              <a:ext uri="{FF2B5EF4-FFF2-40B4-BE49-F238E27FC236}">
                <a16:creationId xmlns:a16="http://schemas.microsoft.com/office/drawing/2014/main" id="{6DDAEFF1-4054-FD99-4FFF-87959ABA5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6687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solidFill>
                  <a:srgbClr val="F3F3F3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3F3F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30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0718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C343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Rajdhani"/>
              <a:buNone/>
              <a:defRPr sz="2800" b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●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Fira Sans Condensed Light"/>
              <a:buChar char="○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200"/>
              <a:buFont typeface="Fira Sans Condensed Light"/>
              <a:buChar char="■"/>
              <a:defRPr sz="1200">
                <a:solidFill>
                  <a:srgbClr val="F3F3F3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9" r:id="rId3"/>
    <p:sldLayoutId id="2147483666" r:id="rId4"/>
    <p:sldLayoutId id="2147483667" r:id="rId5"/>
    <p:sldLayoutId id="214748367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insideairbnb.com/get-the-data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insideairbnb.com/get-the-data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14"/>
          <p:cNvSpPr txBox="1"/>
          <p:nvPr/>
        </p:nvSpPr>
        <p:spPr>
          <a:xfrm>
            <a:off x="745436" y="839354"/>
            <a:ext cx="8398564" cy="3978718"/>
          </a:xfrm>
          <a:prstGeom prst="rect">
            <a:avLst/>
          </a:prstGeom>
        </p:spPr>
        <p:txBody>
          <a:bodyPr vert="horz" wrap="square" lIns="0" tIns="13399" rIns="0" bIns="0" rtlCol="0">
            <a:spAutoFit/>
          </a:bodyPr>
          <a:lstStyle/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chemeClr val="accent4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br>
              <a:rPr lang="es-MX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endParaRPr lang="es-ES" sz="2000" b="1" dirty="0">
              <a:solidFill>
                <a:srgbClr val="FF00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>
              <a:spcBef>
                <a:spcPts val="106"/>
              </a:spcBef>
            </a:pPr>
            <a:r>
              <a:rPr lang="es-ES" sz="1600" b="1" dirty="0">
                <a:solidFill>
                  <a:schemeClr val="bg1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ITIS007</a:t>
            </a:r>
            <a:br>
              <a:rPr lang="es-ES" sz="23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r>
              <a:rPr lang="es-ES" sz="2700" b="1" dirty="0">
                <a:solidFill>
                  <a:schemeClr val="accent4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Modelado de procesos de Negocios</a:t>
            </a:r>
            <a:endParaRPr lang="es-ES" sz="2000" b="1" dirty="0">
              <a:solidFill>
                <a:schemeClr val="bg1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</a:p>
          <a:p>
            <a:pPr marL="14105" marR="5642" algn="ctr">
              <a:spcBef>
                <a:spcPts val="106"/>
              </a:spcBef>
            </a:pPr>
            <a:r>
              <a:rPr lang="es-ES" sz="20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					                        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11 de Noviembre del 2025</a:t>
            </a:r>
            <a:br>
              <a:rPr lang="es-ES" sz="2000" b="1" dirty="0">
                <a:solidFill>
                  <a:srgbClr val="FF00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28" name="AutoShape 4" descr="Inicio | Título Electrónico Puebl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cxnSp>
        <p:nvCxnSpPr>
          <p:cNvPr id="11" name="Google Shape;137;p27"/>
          <p:cNvCxnSpPr/>
          <p:nvPr/>
        </p:nvCxnSpPr>
        <p:spPr>
          <a:xfrm>
            <a:off x="599181" y="3300059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0" y="4922784"/>
            <a:ext cx="3352799" cy="2207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   </a:t>
            </a:r>
          </a:p>
          <a:p>
            <a:pPr algn="l"/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Facilitador: </a:t>
            </a:r>
            <a:r>
              <a:rPr lang="es-ES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PhD</a:t>
            </a:r>
            <a:r>
              <a:rPr lang="es-ES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charset="0"/>
              </a:rPr>
              <a:t> Alfredo García Suárez</a:t>
            </a:r>
          </a:p>
          <a:p>
            <a:pPr algn="l"/>
            <a:br>
              <a:rPr lang="es-ES" dirty="0"/>
            </a:br>
            <a:endParaRPr dirty="0"/>
          </a:p>
        </p:txBody>
      </p:sp>
      <p:pic>
        <p:nvPicPr>
          <p:cNvPr id="1026" name="Picture 2" descr="Virtual Horizon BUAP">
            <a:extLst>
              <a:ext uri="{FF2B5EF4-FFF2-40B4-BE49-F238E27FC236}">
                <a16:creationId xmlns:a16="http://schemas.microsoft.com/office/drawing/2014/main" id="{171633F6-0612-2C83-AC54-6A799E307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07953"/>
            <a:ext cx="3597147" cy="182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/>
          <p:nvPr/>
        </p:nvCxnSpPr>
        <p:spPr>
          <a:xfrm>
            <a:off x="4594711" y="2465172"/>
            <a:ext cx="0" cy="630600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24578" name="Picture 2" descr="Qué es un Modelo de Analítica de Datos? - Northwar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8235" y="1749286"/>
            <a:ext cx="3965646" cy="1928191"/>
          </a:xfrm>
          <a:prstGeom prst="rect">
            <a:avLst/>
          </a:prstGeom>
          <a:noFill/>
        </p:spPr>
      </p:pic>
      <p:sp>
        <p:nvSpPr>
          <p:cNvPr id="8" name="Google Shape;135;p27"/>
          <p:cNvSpPr txBox="1">
            <a:spLocks noGrp="1"/>
          </p:cNvSpPr>
          <p:nvPr>
            <p:ph type="title"/>
          </p:nvPr>
        </p:nvSpPr>
        <p:spPr>
          <a:xfrm>
            <a:off x="4681549" y="1623442"/>
            <a:ext cx="3200181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Bienvenida</a:t>
            </a:r>
            <a:endParaRPr dirty="0"/>
          </a:p>
        </p:txBody>
      </p:sp>
      <p:sp>
        <p:nvSpPr>
          <p:cNvPr id="9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2" descr="Virtual Horizon BUAP">
            <a:extLst>
              <a:ext uri="{FF2B5EF4-FFF2-40B4-BE49-F238E27FC236}">
                <a16:creationId xmlns:a16="http://schemas.microsoft.com/office/drawing/2014/main" id="{91F1C88C-6A24-28C0-4CBA-C67E35BCA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913" y="102446"/>
            <a:ext cx="1931133" cy="97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27"/>
          <p:cNvCxnSpPr>
            <a:cxnSpLocks/>
          </p:cNvCxnSpPr>
          <p:nvPr/>
        </p:nvCxnSpPr>
        <p:spPr>
          <a:xfrm>
            <a:off x="4594711" y="1699846"/>
            <a:ext cx="0" cy="2039816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36;p27"/>
          <p:cNvSpPr txBox="1">
            <a:spLocks noGrp="1"/>
          </p:cNvSpPr>
          <p:nvPr>
            <p:ph type="subTitle" idx="1"/>
          </p:nvPr>
        </p:nvSpPr>
        <p:spPr>
          <a:xfrm>
            <a:off x="4594711" y="1716157"/>
            <a:ext cx="3737113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s-ES" dirty="0"/>
              <a:t>     </a:t>
            </a:r>
          </a:p>
          <a:p>
            <a:pPr algn="l"/>
            <a:r>
              <a:rPr lang="es-ES" dirty="0"/>
              <a:t>     </a:t>
            </a:r>
            <a:r>
              <a:rPr lang="es-ES" b="1" dirty="0"/>
              <a:t>“Los datos se están convirtiendo en la nueva materia prima de los negocios.”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–Craig </a:t>
            </a:r>
            <a:r>
              <a:rPr lang="es-ES" dirty="0" err="1"/>
              <a:t>Mundie</a:t>
            </a:r>
            <a:endParaRPr lang="es-ES" dirty="0"/>
          </a:p>
          <a:p>
            <a:pPr algn="l"/>
            <a:endParaRPr lang="es-ES" dirty="0"/>
          </a:p>
          <a:p>
            <a:pPr algn="l"/>
            <a:r>
              <a:rPr lang="es-ES" dirty="0"/>
              <a:t> </a:t>
            </a:r>
            <a:r>
              <a:rPr lang="es-ES" b="1" dirty="0"/>
              <a:t>“La interfaz de usuario es como un chiste: si tienes que explicarla, entonces no es tan buena.”   </a:t>
            </a:r>
          </a:p>
          <a:p>
            <a:pPr algn="l"/>
            <a:r>
              <a:rPr lang="es-ES" dirty="0"/>
              <a:t>       </a:t>
            </a:r>
          </a:p>
          <a:p>
            <a:pPr algn="l"/>
            <a:r>
              <a:rPr lang="es-ES" dirty="0"/>
              <a:t>                                               –Martín </a:t>
            </a:r>
            <a:r>
              <a:rPr lang="es-ES" dirty="0" err="1"/>
              <a:t>LeBlanc</a:t>
            </a:r>
            <a:endParaRPr lang="es-ES" dirty="0"/>
          </a:p>
          <a:p>
            <a:pPr algn="l"/>
            <a:br>
              <a:rPr lang="es-ES" dirty="0"/>
            </a:br>
            <a:endParaRPr dirty="0"/>
          </a:p>
        </p:txBody>
      </p:sp>
      <p:pic>
        <p:nvPicPr>
          <p:cNvPr id="26626" name="Picture 2" descr="Reconocer los diferentes tipos de datos, indispensable en la era del Big  Dat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3872" y="1396958"/>
            <a:ext cx="3805398" cy="2757599"/>
          </a:xfrm>
          <a:prstGeom prst="rect">
            <a:avLst/>
          </a:prstGeom>
          <a:noFill/>
        </p:spPr>
      </p:pic>
      <p:sp>
        <p:nvSpPr>
          <p:cNvPr id="8" name="Google Shape;136;p27"/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2" descr="Virtual Horizon BUAP">
            <a:extLst>
              <a:ext uri="{FF2B5EF4-FFF2-40B4-BE49-F238E27FC236}">
                <a16:creationId xmlns:a16="http://schemas.microsoft.com/office/drawing/2014/main" id="{D65EA074-15B0-6137-A4BF-F0353DE8E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913" y="102446"/>
            <a:ext cx="1931133" cy="97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699;p36"/>
          <p:cNvSpPr txBox="1">
            <a:spLocks/>
          </p:cNvSpPr>
          <p:nvPr/>
        </p:nvSpPr>
        <p:spPr>
          <a:xfrm>
            <a:off x="393701" y="542737"/>
            <a:ext cx="847337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6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(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DESPLIEGUE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829940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9152" y="901903"/>
            <a:ext cx="8662473" cy="360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lvl="1"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 nuevo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Despliegue</a:t>
            </a:r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lvl="1"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Agregar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 archivos .</a:t>
            </a:r>
            <a:r>
              <a:rPr lang="es-E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csv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ciudades de su elección (A partir de las bases de datos listings.csv.gz), ingresar a: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  <a:hlinkClick r:id="rId3"/>
              </a:rPr>
              <a:t>http://insideairbnb.com/get-the-data/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preprocesamiento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necesarias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 las bases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datos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incorporadas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un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Dashboard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que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muestre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hallazgos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análisis de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siguiente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etapa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Etapa I. Modelado explicativo (Análisis comparativo)</a:t>
            </a:r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a)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Extracción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características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univariado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variables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categóricas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más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significativas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(15)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 la ciudad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asignada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s-E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5016568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2" descr="Virtual Horizon BUAP">
            <a:extLst>
              <a:ext uri="{FF2B5EF4-FFF2-40B4-BE49-F238E27FC236}">
                <a16:creationId xmlns:a16="http://schemas.microsoft.com/office/drawing/2014/main" id="{95C0B56C-62AE-1DA0-51FB-2D6458970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913" y="102446"/>
            <a:ext cx="1931133" cy="97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1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423DCB4-9B0C-F4DD-F2C0-63FD771CA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BF99C162-26D7-CA29-9585-176B0689C983}"/>
              </a:ext>
            </a:extLst>
          </p:cNvPr>
          <p:cNvSpPr txBox="1">
            <a:spLocks/>
          </p:cNvSpPr>
          <p:nvPr/>
        </p:nvSpPr>
        <p:spPr>
          <a:xfrm>
            <a:off x="378522" y="768707"/>
            <a:ext cx="826138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6 (DESPLIEGUE)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588A70C-FAEE-EA5E-DDF8-6A503726DD40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AD73F887-2196-4305-C037-FD90A6E23B31}"/>
              </a:ext>
            </a:extLst>
          </p:cNvPr>
          <p:cNvSpPr txBox="1"/>
          <p:nvPr/>
        </p:nvSpPr>
        <p:spPr>
          <a:xfrm>
            <a:off x="311709" y="1183858"/>
            <a:ext cx="8662473" cy="360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 la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considerará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como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bonus extra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modificación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diseño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widgets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adicionales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que se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presenten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Plantilla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descrita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clase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HEATMAP, BOXPLOT, TABLAS, SELECTORES, ICONOS, COLOR, ETC</a:t>
            </a: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6.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Penalizaciónes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penalizarán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dashboard </a:t>
            </a:r>
            <a:r>
              <a:rPr lang="en-US" sz="1600" b="1" dirty="0" err="1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idénticos</a:t>
            </a:r>
            <a:r>
              <a:rPr lang="en-U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copiados</a:t>
            </a:r>
            <a:r>
              <a:rPr lang="en-U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o </a:t>
            </a:r>
            <a:r>
              <a:rPr lang="en-US" sz="1600" b="1" dirty="0" err="1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duplicados</a:t>
            </a:r>
            <a:r>
              <a:rPr lang="en-U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7.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Ponderación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valor de esta actividad equivale al </a:t>
            </a:r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40% del porcentaje del módulo de estadística</a:t>
            </a:r>
          </a:p>
          <a:p>
            <a:pPr algn="just"/>
            <a:endParaRPr lang="es-E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8.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requeridos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Visual Studio Code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respaldarlos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GitHub.</a:t>
            </a: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9. 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endParaRPr lang="es-E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00631014-0FFD-AF30-CB4F-5C1EC5089615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2" descr="Virtual Horizon BUAP">
            <a:extLst>
              <a:ext uri="{FF2B5EF4-FFF2-40B4-BE49-F238E27FC236}">
                <a16:creationId xmlns:a16="http://schemas.microsoft.com/office/drawing/2014/main" id="{98FD5553-4F4F-ED77-8BD2-D690836C3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913" y="102446"/>
            <a:ext cx="1931133" cy="97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5158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699;p36"/>
          <p:cNvSpPr txBox="1">
            <a:spLocks/>
          </p:cNvSpPr>
          <p:nvPr/>
        </p:nvSpPr>
        <p:spPr>
          <a:xfrm>
            <a:off x="393701" y="542737"/>
            <a:ext cx="847337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kumimoji="0" lang="en-US" sz="3000" b="1" i="0" u="none" strike="noStrike" kern="0" cap="none" spc="0" normalizeH="0" noProof="0" dirty="0" err="1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 7 (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DESPLIEGUE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Regresión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Lineal</a:t>
            </a:r>
            <a:r>
              <a:rPr kumimoji="0" lang="en-US" sz="3000" b="1" i="0" u="none" strike="noStrike" kern="0" cap="none" spc="0" normalizeH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Rajdhani"/>
                <a:ea typeface="Rajdhani"/>
                <a:cs typeface="Rajdhani"/>
                <a:sym typeface="Rajdhani"/>
              </a:rPr>
              <a:t>)</a:t>
            </a:r>
            <a:endParaRPr kumimoji="0" lang="en-US" sz="3000" b="1" i="0" u="none" strike="noStrike" kern="0" cap="none" spc="0" normalizeH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Rajdhani"/>
              <a:buNone/>
              <a:tabLst/>
              <a:defRPr/>
            </a:pPr>
            <a:endParaRPr kumimoji="0" lang="es-E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/>
          <p:cNvCxnSpPr/>
          <p:nvPr/>
        </p:nvCxnSpPr>
        <p:spPr>
          <a:xfrm rot="5400000">
            <a:off x="203275" y="829940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/>
          <p:cNvSpPr txBox="1"/>
          <p:nvPr/>
        </p:nvSpPr>
        <p:spPr>
          <a:xfrm>
            <a:off x="299152" y="901903"/>
            <a:ext cx="8662473" cy="360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lvl="1"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1.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Utilizar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nombre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Despliegue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2.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Agregar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 archivos .</a:t>
            </a:r>
            <a:r>
              <a:rPr lang="es-E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csv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las ciudades de su elección (A partir de las bases de datos listings.csv.gz), ingresar a: </a:t>
            </a:r>
            <a:r>
              <a:rPr lang="es-E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  <a:hlinkClick r:id="rId3"/>
              </a:rPr>
              <a:t>http://insideairbnb.com/get-the-data/</a:t>
            </a:r>
            <a:endParaRPr lang="es-E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3.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acciones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preprocesamiento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necesarias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para las bases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datos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incorporadas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1600" b="1" dirty="0">
              <a:solidFill>
                <a:schemeClr val="tx2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Realizar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un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Dashboard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que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muestre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hallazgos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análisis de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siguiente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etapa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Etapa II. Modelado predictivo (Lineal Simple y Lineal Múltiple)</a:t>
            </a:r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a).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b="1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correlaciones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Análisis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comparative entre las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ciudades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elegidas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aplicando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siguientes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tipos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regresion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vistos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curso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superponiendo</a:t>
            </a:r>
            <a:r>
              <a:rPr lang="en-US" sz="1600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cada</a:t>
            </a:r>
            <a:r>
              <a:rPr lang="en-US" sz="1600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gráfico</a:t>
            </a:r>
            <a:r>
              <a:rPr lang="en-US" sz="1600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dispersion de </a:t>
            </a:r>
            <a:r>
              <a:rPr lang="en-US" sz="1600" dirty="0" err="1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datos</a:t>
            </a:r>
            <a:r>
              <a:rPr lang="en-US" sz="1600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predecidos</a:t>
            </a:r>
            <a:r>
              <a:rPr lang="en-US" sz="1600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regresión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lineal simple</a:t>
            </a:r>
            <a:r>
              <a:rPr lang="en-US" sz="1600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*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regresión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lineal multiple</a:t>
            </a:r>
            <a:r>
              <a:rPr lang="en-US" sz="1600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*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endParaRPr lang="es-E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endParaRPr lang="es-E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/>
          <p:cNvSpPr txBox="1">
            <a:spLocks/>
          </p:cNvSpPr>
          <p:nvPr/>
        </p:nvSpPr>
        <p:spPr>
          <a:xfrm>
            <a:off x="0" y="5016568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2" descr="Virtual Horizon BUAP">
            <a:extLst>
              <a:ext uri="{FF2B5EF4-FFF2-40B4-BE49-F238E27FC236}">
                <a16:creationId xmlns:a16="http://schemas.microsoft.com/office/drawing/2014/main" id="{2D0D8623-AAF7-AB1D-2E7D-AB7C02AF9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913" y="102446"/>
            <a:ext cx="1931133" cy="97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655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>
          <a:extLst>
            <a:ext uri="{FF2B5EF4-FFF2-40B4-BE49-F238E27FC236}">
              <a16:creationId xmlns:a16="http://schemas.microsoft.com/office/drawing/2014/main" id="{3423DCB4-9B0C-F4DD-F2C0-63FD771CA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699;p36">
            <a:extLst>
              <a:ext uri="{FF2B5EF4-FFF2-40B4-BE49-F238E27FC236}">
                <a16:creationId xmlns:a16="http://schemas.microsoft.com/office/drawing/2014/main" id="{BF99C162-26D7-CA29-9585-176B0689C983}"/>
              </a:ext>
            </a:extLst>
          </p:cNvPr>
          <p:cNvSpPr txBox="1">
            <a:spLocks/>
          </p:cNvSpPr>
          <p:nvPr/>
        </p:nvSpPr>
        <p:spPr>
          <a:xfrm>
            <a:off x="378522" y="768707"/>
            <a:ext cx="826138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F3F3F3"/>
              </a:buClr>
              <a:buSzPts val="3000"/>
              <a:defRPr/>
            </a:pP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Actividad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7 (DESPLIEGUE </a:t>
            </a:r>
            <a:r>
              <a:rPr lang="en-US" sz="3000" b="1" dirty="0" err="1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Regresión</a:t>
            </a:r>
            <a:r>
              <a:rPr lang="en-US" sz="3000" b="1" dirty="0">
                <a:solidFill>
                  <a:srgbClr val="F3F3F3"/>
                </a:solidFill>
                <a:latin typeface="Rajdhani"/>
                <a:ea typeface="Rajdhani"/>
                <a:cs typeface="Rajdhani"/>
                <a:sym typeface="Rajdhani"/>
              </a:rPr>
              <a:t> Lineal)</a:t>
            </a:r>
            <a:endParaRPr lang="en-US" sz="3000" b="1" dirty="0">
              <a:solidFill>
                <a:schemeClr val="tx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52" name="Google Shape;258;p31">
            <a:extLst>
              <a:ext uri="{FF2B5EF4-FFF2-40B4-BE49-F238E27FC236}">
                <a16:creationId xmlns:a16="http://schemas.microsoft.com/office/drawing/2014/main" id="{2588A70C-FAEE-EA5E-DDF8-6A503726DD40}"/>
              </a:ext>
            </a:extLst>
          </p:cNvPr>
          <p:cNvCxnSpPr/>
          <p:nvPr/>
        </p:nvCxnSpPr>
        <p:spPr>
          <a:xfrm rot="5400000">
            <a:off x="203275" y="1099569"/>
            <a:ext cx="386257" cy="5405"/>
          </a:xfrm>
          <a:prstGeom prst="straightConnector1">
            <a:avLst/>
          </a:prstGeom>
          <a:noFill/>
          <a:ln w="19050" cap="flat" cmpd="sng">
            <a:solidFill>
              <a:srgbClr val="F3F3F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" name="Google Shape;1603;p42">
            <a:extLst>
              <a:ext uri="{FF2B5EF4-FFF2-40B4-BE49-F238E27FC236}">
                <a16:creationId xmlns:a16="http://schemas.microsoft.com/office/drawing/2014/main" id="{AD73F887-2196-4305-C037-FD90A6E23B31}"/>
              </a:ext>
            </a:extLst>
          </p:cNvPr>
          <p:cNvSpPr txBox="1"/>
          <p:nvPr/>
        </p:nvSpPr>
        <p:spPr>
          <a:xfrm>
            <a:off x="311709" y="1183858"/>
            <a:ext cx="8662473" cy="3602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/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5.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 la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se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considerará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como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un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bonus extra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modificación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del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diseño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implementación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de widgets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adicionales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que se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presenten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Plantilla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descrita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la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clase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por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ejemplo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: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HEATMAP, BOXPLOT, TABLAS, SELECTORES, ICONOS, COLOR, ETC</a:t>
            </a:r>
          </a:p>
          <a:p>
            <a:pPr algn="just"/>
            <a:endParaRPr lang="en-US" sz="1600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6.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Penalizaciónes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 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Se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penalizarán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dashboard </a:t>
            </a:r>
            <a:r>
              <a:rPr lang="en-US" sz="1600" b="1" dirty="0" err="1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idénticos</a:t>
            </a:r>
            <a:r>
              <a:rPr lang="en-U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copiados</a:t>
            </a:r>
            <a:r>
              <a:rPr lang="en-U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o </a:t>
            </a:r>
            <a:r>
              <a:rPr lang="en-US" sz="1600" b="1" dirty="0" err="1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duplicados</a:t>
            </a:r>
            <a:r>
              <a:rPr lang="en-U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7. 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Ponderación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. </a:t>
            </a:r>
            <a:r>
              <a:rPr lang="en-U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s-ES" sz="1600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 valor de esta actividad equivale al </a:t>
            </a:r>
            <a:r>
              <a:rPr lang="es-ES" sz="1600" b="1" dirty="0">
                <a:solidFill>
                  <a:srgbClr val="FFFF00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40% del porcentaje del módulo de estadística</a:t>
            </a:r>
          </a:p>
          <a:p>
            <a:pPr algn="just"/>
            <a:endParaRPr lang="es-E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8.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Crear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archivos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requeridos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Visual Studio Code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y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respaldarlos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GitHub.</a:t>
            </a:r>
          </a:p>
          <a:p>
            <a:pPr algn="just"/>
            <a:endParaRPr lang="en-US" sz="1600" b="1" dirty="0">
              <a:solidFill>
                <a:schemeClr val="bg1">
                  <a:lumMod val="60000"/>
                  <a:lumOff val="40000"/>
                </a:schemeClr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9. Subir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el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link del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repositorio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en</a:t>
            </a:r>
            <a:r>
              <a:rPr lang="en-US" sz="1600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 CANVAS para 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“</a:t>
            </a:r>
            <a:r>
              <a:rPr lang="en-US" sz="1600" b="1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Evaluación</a:t>
            </a:r>
            <a:r>
              <a:rPr lang="en-US" sz="1600" b="1" dirty="0">
                <a:solidFill>
                  <a:schemeClr val="tx2"/>
                </a:solidFill>
                <a:latin typeface="Fira Sans Condensed Light" panose="020B0604020202020204" charset="0"/>
                <a:cs typeface="Times New Roman" panose="02020603050405020304" pitchFamily="18" charset="0"/>
              </a:rPr>
              <a:t>”</a:t>
            </a:r>
          </a:p>
          <a:p>
            <a:pPr algn="just"/>
            <a:endParaRPr lang="es-ES" sz="1600" b="1" dirty="0">
              <a:solidFill>
                <a:srgbClr val="FFFF00"/>
              </a:solidFill>
              <a:latin typeface="Fira Sans Condensed Light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136;p27">
            <a:extLst>
              <a:ext uri="{FF2B5EF4-FFF2-40B4-BE49-F238E27FC236}">
                <a16:creationId xmlns:a16="http://schemas.microsoft.com/office/drawing/2014/main" id="{00631014-0FFD-AF30-CB4F-5C1EC5089615}"/>
              </a:ext>
            </a:extLst>
          </p:cNvPr>
          <p:cNvSpPr txBox="1">
            <a:spLocks/>
          </p:cNvSpPr>
          <p:nvPr/>
        </p:nvSpPr>
        <p:spPr>
          <a:xfrm>
            <a:off x="0" y="4922784"/>
            <a:ext cx="3352799" cy="2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  <a:t>   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Facilitador: </a:t>
            </a:r>
            <a:r>
              <a:rPr kumimoji="0" lang="es-E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PhD</a:t>
            </a:r>
            <a: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Condensed Light" charset="0"/>
                <a:ea typeface="Fira Sans Condensed Light"/>
                <a:cs typeface="Fira Sans Condensed Light"/>
                <a:sym typeface="Fira Sans Condensed Light"/>
              </a:rPr>
              <a:t> Alfredo García Suárez</a:t>
            </a: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100"/>
              <a:buFont typeface="Fira Sans Condensed Light"/>
              <a:buNone/>
              <a:tabLst/>
              <a:defRPr/>
            </a:pPr>
            <a:br>
              <a:rPr kumimoji="0" lang="es-ES" sz="1400" b="0" i="0" u="none" strike="noStrike" kern="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Fira Sans Condensed Light"/>
                <a:ea typeface="Fira Sans Condensed Light"/>
                <a:cs typeface="Fira Sans Condensed Light"/>
                <a:sym typeface="Fira Sans Condensed Light"/>
              </a:rPr>
            </a:b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Fira Sans Condensed Light"/>
              <a:ea typeface="Fira Sans Condensed Light"/>
              <a:cs typeface="Fira Sans Condensed Light"/>
              <a:sym typeface="Fira Sans Condensed Light"/>
            </a:endParaRPr>
          </a:p>
        </p:txBody>
      </p:sp>
      <p:pic>
        <p:nvPicPr>
          <p:cNvPr id="2" name="Picture 2" descr="Virtual Horizon BUAP">
            <a:extLst>
              <a:ext uri="{FF2B5EF4-FFF2-40B4-BE49-F238E27FC236}">
                <a16:creationId xmlns:a16="http://schemas.microsoft.com/office/drawing/2014/main" id="{0715860E-5F3C-57BD-B16F-781EFAAC5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913" y="102446"/>
            <a:ext cx="1931133" cy="977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525221"/>
      </p:ext>
    </p:extLst>
  </p:cSld>
  <p:clrMapOvr>
    <a:masterClrMapping/>
  </p:clrMapOvr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8423</TotalTime>
  <Words>628</Words>
  <Application>Microsoft Office PowerPoint</Application>
  <PresentationFormat>Presentación en pantalla (16:9)</PresentationFormat>
  <Paragraphs>82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Anton</vt:lpstr>
      <vt:lpstr>Fira Sans Condensed Light</vt:lpstr>
      <vt:lpstr>Calibri</vt:lpstr>
      <vt:lpstr>Rajdhani</vt:lpstr>
      <vt:lpstr>Advent Pro Light</vt:lpstr>
      <vt:lpstr>Arial</vt:lpstr>
      <vt:lpstr>Ai Tech Agency by Slidesgo</vt:lpstr>
      <vt:lpstr>Presentación de PowerPoint</vt:lpstr>
      <vt:lpstr>Bienvenida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DOCTORAL</dc:title>
  <dc:creator>Alfredo Garcia</dc:creator>
  <cp:lastModifiedBy>Alfredo García Suárez</cp:lastModifiedBy>
  <cp:revision>330</cp:revision>
  <dcterms:modified xsi:type="dcterms:W3CDTF">2025-11-11T22:24:29Z</dcterms:modified>
</cp:coreProperties>
</file>